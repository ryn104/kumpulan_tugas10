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Open Sans Bold" charset="1" panose="00000000000000000000"/>
      <p:regular r:id="rId18"/>
    </p:embeddedFont>
    <p:embeddedFont>
      <p:font typeface="Montserrat Bold" charset="1" panose="00000800000000000000"/>
      <p:regular r:id="rId19"/>
    </p:embeddedFont>
    <p:embeddedFont>
      <p:font typeface="Open Sans" charset="1" panose="00000000000000000000"/>
      <p:regular r:id="rId20"/>
    </p:embeddedFont>
    <p:embeddedFont>
      <p:font typeface="IBM Plex Mono" charset="1" panose="020B0509050203000203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0" y="0"/>
            <a:ext cx="8001000" cy="10287000"/>
          </a:xfrm>
          <a:custGeom>
            <a:avLst/>
            <a:gdLst/>
            <a:ahLst/>
            <a:cxnLst/>
            <a:rect r="r" b="b" t="t" l="l"/>
            <a:pathLst>
              <a:path h="10287000" w="8001000">
                <a:moveTo>
                  <a:pt x="0" y="0"/>
                </a:moveTo>
                <a:lnTo>
                  <a:pt x="8001000" y="0"/>
                </a:lnTo>
                <a:lnTo>
                  <a:pt x="8001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8" r="0" b="-98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8572500" y="0"/>
            <a:ext cx="4762500" cy="10287000"/>
            <a:chOff x="0" y="0"/>
            <a:chExt cx="6350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26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350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47750" y="1343025"/>
            <a:ext cx="74295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spc="225" b="true">
                <a:solidFill>
                  <a:srgbClr val="42D7E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Program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750" y="2466975"/>
            <a:ext cx="8858250" cy="1303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22"/>
              </a:lnSpc>
            </a:pPr>
            <a:r>
              <a:rPr lang="en-US" sz="94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CSS DASAR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47750" y="4714875"/>
            <a:ext cx="1428750" cy="76200"/>
            <a:chOff x="0" y="0"/>
            <a:chExt cx="1905000" cy="101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05000" cy="101600"/>
            </a:xfrm>
            <a:custGeom>
              <a:avLst/>
              <a:gdLst/>
              <a:ahLst/>
              <a:cxnLst/>
              <a:rect r="r" b="b" t="t" l="l"/>
              <a:pathLst>
                <a:path h="10160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8B5CF6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905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47750" y="4981575"/>
            <a:ext cx="7810500" cy="1127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5"/>
              </a:lnSpc>
            </a:pPr>
            <a:r>
              <a:rPr lang="en-US" sz="3225">
                <a:solidFill>
                  <a:srgbClr val="CDD5FF"/>
                </a:solidFill>
                <a:latin typeface="Open Sans"/>
                <a:ea typeface="Open Sans"/>
                <a:cs typeface="Open Sans"/>
                <a:sym typeface="Open Sans"/>
              </a:rPr>
              <a:t>Mengubah website HTML menjadi lebih menarik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7750" y="7772400"/>
            <a:ext cx="76200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Selector  •  Color  •  Typography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4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552450"/>
            <a:ext cx="1714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3772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076325"/>
            <a:ext cx="1428750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true">
                <a:solidFill>
                  <a:srgbClr val="151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HTML memberi struktur. CSS memberi gaya.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7750" y="1866900"/>
            <a:ext cx="16192500" cy="28575"/>
            <a:chOff x="0" y="0"/>
            <a:chExt cx="215900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590000" cy="38100"/>
            </a:xfrm>
            <a:custGeom>
              <a:avLst/>
              <a:gdLst/>
              <a:ahLst/>
              <a:cxnLst/>
              <a:rect r="r" b="b" t="t" l="l"/>
              <a:pathLst>
                <a:path h="38100" w="21590000">
                  <a:moveTo>
                    <a:pt x="0" y="0"/>
                  </a:moveTo>
                  <a:lnTo>
                    <a:pt x="21590000" y="0"/>
                  </a:lnTo>
                  <a:lnTo>
                    <a:pt x="21590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8DEF5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590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28750" y="2667000"/>
            <a:ext cx="4572000" cy="2857500"/>
            <a:chOff x="0" y="0"/>
            <a:chExt cx="6096000" cy="38100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6096000" cy="3810000"/>
              <a:chOff x="0" y="0"/>
              <a:chExt cx="6096000" cy="3810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096000" cy="3810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0" w="6096000">
                    <a:moveTo>
                      <a:pt x="0" y="0"/>
                    </a:moveTo>
                    <a:lnTo>
                      <a:pt x="6096000" y="0"/>
                    </a:lnTo>
                    <a:lnTo>
                      <a:pt x="6096000" y="3810000"/>
                    </a:lnTo>
                    <a:lnTo>
                      <a:pt x="0" y="3810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6096000" cy="384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381000" y="657225"/>
              <a:ext cx="5334000" cy="1062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85"/>
                </a:lnSpc>
              </a:pPr>
              <a:r>
                <a:rPr lang="en-US" sz="5700" b="true">
                  <a:solidFill>
                    <a:srgbClr val="15193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HTML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381000" y="1866900"/>
              <a:ext cx="53340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657093"/>
                  </a:solidFill>
                  <a:latin typeface="Open Sans"/>
                  <a:ea typeface="Open Sans"/>
                  <a:cs typeface="Open Sans"/>
                  <a:sym typeface="Open Sans"/>
                </a:rPr>
                <a:t>judul • paragraf • tombol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6667500" y="4095750"/>
            <a:ext cx="4953000" cy="0"/>
          </a:xfrm>
          <a:prstGeom prst="line">
            <a:avLst/>
          </a:prstGeom>
          <a:ln cap="rnd" w="95250">
            <a:solidFill>
              <a:srgbClr val="3772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8191500" y="3524250"/>
            <a:ext cx="1905000" cy="1143000"/>
            <a:chOff x="0" y="0"/>
            <a:chExt cx="2540000" cy="1524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540000">
                  <a:moveTo>
                    <a:pt x="114300" y="0"/>
                  </a:moveTo>
                  <a:lnTo>
                    <a:pt x="2425700" y="0"/>
                  </a:lnTo>
                  <a:cubicBezTo>
                    <a:pt x="2488826" y="0"/>
                    <a:pt x="2540000" y="51174"/>
                    <a:pt x="2540000" y="114300"/>
                  </a:cubicBezTo>
                  <a:lnTo>
                    <a:pt x="2540000" y="1409700"/>
                  </a:lnTo>
                  <a:cubicBezTo>
                    <a:pt x="2540000" y="1472826"/>
                    <a:pt x="2488826" y="1524000"/>
                    <a:pt x="2425700" y="1524000"/>
                  </a:cubicBezTo>
                  <a:lnTo>
                    <a:pt x="114300" y="1524000"/>
                  </a:lnTo>
                  <a:cubicBezTo>
                    <a:pt x="51174" y="1524000"/>
                    <a:pt x="0" y="1472826"/>
                    <a:pt x="0" y="1409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3772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540000" cy="1571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35"/>
                </a:lnSpc>
              </a:pPr>
              <a:r>
                <a:rPr lang="en-US" sz="20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+ style.css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287250" y="2667000"/>
            <a:ext cx="4572000" cy="2857500"/>
            <a:chOff x="0" y="0"/>
            <a:chExt cx="6096000" cy="381000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6096000" cy="3810000"/>
              <a:chOff x="0" y="0"/>
              <a:chExt cx="6096000" cy="3810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096000" cy="3810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0" w="6096000">
                    <a:moveTo>
                      <a:pt x="0" y="0"/>
                    </a:moveTo>
                    <a:lnTo>
                      <a:pt x="6096000" y="0"/>
                    </a:lnTo>
                    <a:lnTo>
                      <a:pt x="6096000" y="3810000"/>
                    </a:lnTo>
                    <a:lnTo>
                      <a:pt x="0" y="3810000"/>
                    </a:lnTo>
                    <a:close/>
                  </a:path>
                </a:pathLst>
              </a:custGeom>
              <a:solidFill>
                <a:srgbClr val="EBE8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6096000" cy="384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381000" y="657225"/>
              <a:ext cx="5334000" cy="1062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85"/>
                </a:lnSpc>
              </a:pPr>
              <a:r>
                <a:rPr lang="en-US" sz="5700" b="true">
                  <a:solidFill>
                    <a:srgbClr val="8B5CF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CSS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381000" y="1866900"/>
              <a:ext cx="53340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657093"/>
                  </a:solidFill>
                  <a:latin typeface="Open Sans"/>
                  <a:ea typeface="Open Sans"/>
                  <a:cs typeface="Open Sans"/>
                  <a:sym typeface="Open Sans"/>
                </a:rPr>
                <a:t>warna • ukuran • jarak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4333875" y="7572375"/>
            <a:ext cx="9620250" cy="389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1"/>
              </a:lnSpc>
            </a:pPr>
            <a:r>
              <a:rPr lang="en-US" sz="2925" b="true">
                <a:solidFill>
                  <a:srgbClr val="151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Konten yang sama — pengalaman yang berbeda.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4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552450"/>
            <a:ext cx="1714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3772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076325"/>
            <a:ext cx="1428750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true">
                <a:solidFill>
                  <a:srgbClr val="151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Apa itu CSS?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7750" y="1866900"/>
            <a:ext cx="16192500" cy="28575"/>
            <a:chOff x="0" y="0"/>
            <a:chExt cx="215900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590000" cy="38100"/>
            </a:xfrm>
            <a:custGeom>
              <a:avLst/>
              <a:gdLst/>
              <a:ahLst/>
              <a:cxnLst/>
              <a:rect r="r" b="b" t="t" l="l"/>
              <a:pathLst>
                <a:path h="38100" w="21590000">
                  <a:moveTo>
                    <a:pt x="0" y="0"/>
                  </a:moveTo>
                  <a:lnTo>
                    <a:pt x="21590000" y="0"/>
                  </a:lnTo>
                  <a:lnTo>
                    <a:pt x="21590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8DEF5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590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47750" y="2790825"/>
            <a:ext cx="7810500" cy="708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3"/>
              </a:lnSpc>
            </a:pPr>
            <a:r>
              <a:rPr lang="en-US" sz="5175" b="true">
                <a:solidFill>
                  <a:srgbClr val="151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CSS = aturan tampilan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7750" y="4438650"/>
            <a:ext cx="7429500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657093"/>
                </a:solidFill>
                <a:latin typeface="Open Sans"/>
                <a:ea typeface="Open Sans"/>
                <a:cs typeface="Open Sans"/>
                <a:sym typeface="Open Sans"/>
              </a:rPr>
              <a:t>Cascading Style Sheets mengatur bagaimana elemen HTML terlihat di layar — tanpa mengubah isi atau strukturnya.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572750" y="2857500"/>
            <a:ext cx="5715000" cy="1238250"/>
            <a:chOff x="0" y="0"/>
            <a:chExt cx="7620000" cy="1651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62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7620000">
                  <a:moveTo>
                    <a:pt x="38100" y="0"/>
                  </a:moveTo>
                  <a:lnTo>
                    <a:pt x="7581900" y="0"/>
                  </a:lnTo>
                  <a:cubicBezTo>
                    <a:pt x="7602942" y="0"/>
                    <a:pt x="7620000" y="17058"/>
                    <a:pt x="7620000" y="38100"/>
                  </a:cubicBezTo>
                  <a:lnTo>
                    <a:pt x="7620000" y="1612900"/>
                  </a:lnTo>
                  <a:cubicBezTo>
                    <a:pt x="7620000" y="1633942"/>
                    <a:pt x="7602942" y="1651000"/>
                    <a:pt x="7581900" y="1651000"/>
                  </a:cubicBezTo>
                  <a:lnTo>
                    <a:pt x="38100" y="1651000"/>
                  </a:lnTo>
                  <a:cubicBezTo>
                    <a:pt x="17058" y="1651000"/>
                    <a:pt x="0" y="1633942"/>
                    <a:pt x="0" y="16129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151936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7620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  <a:r>
                <a:rPr lang="en-US" sz="225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HTML  ·  isi &amp; struktur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001250" y="4524375"/>
            <a:ext cx="5715000" cy="1238250"/>
            <a:chOff x="0" y="0"/>
            <a:chExt cx="7620000" cy="1651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2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7620000">
                  <a:moveTo>
                    <a:pt x="38100" y="0"/>
                  </a:moveTo>
                  <a:lnTo>
                    <a:pt x="7581900" y="0"/>
                  </a:lnTo>
                  <a:cubicBezTo>
                    <a:pt x="7602942" y="0"/>
                    <a:pt x="7620000" y="17058"/>
                    <a:pt x="7620000" y="38100"/>
                  </a:cubicBezTo>
                  <a:lnTo>
                    <a:pt x="7620000" y="1612900"/>
                  </a:lnTo>
                  <a:cubicBezTo>
                    <a:pt x="7620000" y="1633942"/>
                    <a:pt x="7602942" y="1651000"/>
                    <a:pt x="7581900" y="1651000"/>
                  </a:cubicBezTo>
                  <a:lnTo>
                    <a:pt x="38100" y="1651000"/>
                  </a:lnTo>
                  <a:cubicBezTo>
                    <a:pt x="17058" y="1651000"/>
                    <a:pt x="0" y="1633942"/>
                    <a:pt x="0" y="16129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3772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7620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  <a:r>
                <a:rPr lang="en-US" sz="225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CSS  ·  warna &amp; gaya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429750" y="6191250"/>
            <a:ext cx="5715000" cy="1238250"/>
            <a:chOff x="0" y="0"/>
            <a:chExt cx="7620000" cy="1651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62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7620000">
                  <a:moveTo>
                    <a:pt x="38100" y="0"/>
                  </a:moveTo>
                  <a:lnTo>
                    <a:pt x="7581900" y="0"/>
                  </a:lnTo>
                  <a:cubicBezTo>
                    <a:pt x="7602942" y="0"/>
                    <a:pt x="7620000" y="17058"/>
                    <a:pt x="7620000" y="38100"/>
                  </a:cubicBezTo>
                  <a:lnTo>
                    <a:pt x="7620000" y="1612900"/>
                  </a:lnTo>
                  <a:cubicBezTo>
                    <a:pt x="7620000" y="1633942"/>
                    <a:pt x="7602942" y="1651000"/>
                    <a:pt x="7581900" y="1651000"/>
                  </a:cubicBezTo>
                  <a:lnTo>
                    <a:pt x="38100" y="1651000"/>
                  </a:lnTo>
                  <a:cubicBezTo>
                    <a:pt x="17058" y="1651000"/>
                    <a:pt x="0" y="1633942"/>
                    <a:pt x="0" y="16129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B5CF6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7620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  <a:r>
                <a:rPr lang="en-US" sz="225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HASIL  ·  halaman menarik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552450"/>
            <a:ext cx="1714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42D7E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076325"/>
            <a:ext cx="1428750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Hubungkan external CSS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7750" y="1866900"/>
            <a:ext cx="16192500" cy="28575"/>
            <a:chOff x="0" y="0"/>
            <a:chExt cx="215900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590000" cy="38100"/>
            </a:xfrm>
            <a:custGeom>
              <a:avLst/>
              <a:gdLst/>
              <a:ahLst/>
              <a:cxnLst/>
              <a:rect r="r" b="b" t="t" l="l"/>
              <a:pathLst>
                <a:path h="38100" w="21590000">
                  <a:moveTo>
                    <a:pt x="0" y="0"/>
                  </a:moveTo>
                  <a:lnTo>
                    <a:pt x="21590000" y="0"/>
                  </a:lnTo>
                  <a:lnTo>
                    <a:pt x="21590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8B5CF6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590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47750" y="2714625"/>
            <a:ext cx="7905750" cy="2857500"/>
            <a:chOff x="0" y="0"/>
            <a:chExt cx="10541000" cy="38100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0541000" cy="3810000"/>
              <a:chOff x="0" y="0"/>
              <a:chExt cx="10541000" cy="3810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0541000" cy="3810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0" w="10541000">
                    <a:moveTo>
                      <a:pt x="0" y="0"/>
                    </a:moveTo>
                    <a:lnTo>
                      <a:pt x="10541000" y="0"/>
                    </a:lnTo>
                    <a:lnTo>
                      <a:pt x="10541000" y="3810000"/>
                    </a:lnTo>
                    <a:lnTo>
                      <a:pt x="0" y="3810000"/>
                    </a:lnTo>
                    <a:close/>
                  </a:path>
                </a:pathLst>
              </a:custGeom>
              <a:solidFill>
                <a:srgbClr val="151B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10541000" cy="384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431800" y="317500"/>
              <a:ext cx="9677400" cy="13582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DFF7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&lt;head&gt;</a:t>
              </a:r>
            </a:p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DFF7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&lt;link rel="stylesheet" href="style.css"&gt;</a:t>
              </a:r>
            </a:p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DFF7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&lt;/head&gt;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>
            <a:off x="9429750" y="4143375"/>
            <a:ext cx="1905000" cy="0"/>
          </a:xfrm>
          <a:prstGeom prst="line">
            <a:avLst/>
          </a:prstGeom>
          <a:ln cap="rnd" w="76200">
            <a:solidFill>
              <a:srgbClr val="42D7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11620500" y="3048000"/>
            <a:ext cx="5143500" cy="2190750"/>
            <a:chOff x="0" y="0"/>
            <a:chExt cx="6858000" cy="2921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858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6858000">
                  <a:moveTo>
                    <a:pt x="42333" y="0"/>
                  </a:moveTo>
                  <a:lnTo>
                    <a:pt x="6815667" y="0"/>
                  </a:lnTo>
                  <a:cubicBezTo>
                    <a:pt x="6826894" y="0"/>
                    <a:pt x="6837662" y="4460"/>
                    <a:pt x="6845601" y="12399"/>
                  </a:cubicBezTo>
                  <a:cubicBezTo>
                    <a:pt x="6853540" y="20338"/>
                    <a:pt x="6858000" y="31106"/>
                    <a:pt x="6858000" y="42333"/>
                  </a:cubicBezTo>
                  <a:lnTo>
                    <a:pt x="6858000" y="2878667"/>
                  </a:lnTo>
                  <a:cubicBezTo>
                    <a:pt x="6858000" y="2889894"/>
                    <a:pt x="6853540" y="2900662"/>
                    <a:pt x="6845601" y="2908601"/>
                  </a:cubicBezTo>
                  <a:cubicBezTo>
                    <a:pt x="6837662" y="2916540"/>
                    <a:pt x="6826894" y="2921000"/>
                    <a:pt x="6815667" y="2921000"/>
                  </a:cubicBezTo>
                  <a:lnTo>
                    <a:pt x="42333" y="2921000"/>
                  </a:lnTo>
                  <a:cubicBezTo>
                    <a:pt x="31106" y="2921000"/>
                    <a:pt x="20338" y="2916540"/>
                    <a:pt x="12399" y="2908601"/>
                  </a:cubicBezTo>
                  <a:cubicBezTo>
                    <a:pt x="4460" y="2900662"/>
                    <a:pt x="0" y="2889894"/>
                    <a:pt x="0" y="2878667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8B5CF6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685800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style.css</a:t>
              </a:r>
            </a:p>
            <a:p>
              <a:pPr algn="ctr">
                <a:lnSpc>
                  <a:spcPts val="3359"/>
                </a:lnSpc>
              </a:pPr>
              <a:r>
                <a:rPr lang="en-US" sz="24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semua aturan gaya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47750" y="6619875"/>
            <a:ext cx="15240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>
                <a:solidFill>
                  <a:srgbClr val="D7DCFF"/>
                </a:solidFill>
                <a:latin typeface="Open Sans"/>
                <a:ea typeface="Open Sans"/>
                <a:cs typeface="Open Sans"/>
                <a:sym typeface="Open Sans"/>
              </a:rPr>
              <a:t>Satu file CSS dapat dipakai oleh banyak halaman HTML. Lebih rapi, konsisten, dan mudah diperbarui.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4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552450"/>
            <a:ext cx="1714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3772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076325"/>
            <a:ext cx="1428750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true">
                <a:solidFill>
                  <a:srgbClr val="151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Selector memilih elemen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7750" y="1866900"/>
            <a:ext cx="16192500" cy="28575"/>
            <a:chOff x="0" y="0"/>
            <a:chExt cx="215900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590000" cy="38100"/>
            </a:xfrm>
            <a:custGeom>
              <a:avLst/>
              <a:gdLst/>
              <a:ahLst/>
              <a:cxnLst/>
              <a:rect r="r" b="b" t="t" l="l"/>
              <a:pathLst>
                <a:path h="38100" w="21590000">
                  <a:moveTo>
                    <a:pt x="0" y="0"/>
                  </a:moveTo>
                  <a:lnTo>
                    <a:pt x="21590000" y="0"/>
                  </a:lnTo>
                  <a:lnTo>
                    <a:pt x="21590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8DEF5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590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333625" y="3095625"/>
            <a:ext cx="28575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spc="234" b="true">
                <a:solidFill>
                  <a:srgbClr val="3772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selector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86750" y="3095625"/>
            <a:ext cx="28575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spc="234" b="true">
                <a:solidFill>
                  <a:srgbClr val="8B5C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property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239750" y="3095625"/>
            <a:ext cx="28575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spc="234" b="true">
                <a:solidFill>
                  <a:srgbClr val="42D7E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value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24000" y="3762375"/>
            <a:ext cx="15240000" cy="1714500"/>
            <a:chOff x="0" y="0"/>
            <a:chExt cx="20320000" cy="2286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320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0320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000250" y="3924300"/>
            <a:ext cx="14287500" cy="939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5"/>
              </a:lnSpc>
            </a:pPr>
            <a:r>
              <a:rPr lang="en-US" sz="5700">
                <a:solidFill>
                  <a:srgbClr val="151936"/>
                </a:solidFill>
                <a:latin typeface="IBM Plex Mono"/>
                <a:ea typeface="IBM Plex Mono"/>
                <a:cs typeface="IBM Plex Mono"/>
                <a:sym typeface="IBM Plex Mono"/>
              </a:rPr>
              <a:t>p   {   color   :   blue;   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43250" y="6619875"/>
            <a:ext cx="12001500" cy="984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0"/>
              </a:lnSpc>
            </a:pPr>
            <a:r>
              <a:rPr lang="en-US" sz="2850">
                <a:solidFill>
                  <a:srgbClr val="657093"/>
                </a:solidFill>
                <a:latin typeface="Open Sans"/>
                <a:ea typeface="Open Sans"/>
                <a:cs typeface="Open Sans"/>
                <a:sym typeface="Open Sans"/>
              </a:rPr>
              <a:t>Artinya: pilih semua paragraf &lt;p&gt;, lalu ubah warna teksnya menjadi biru.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4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552450"/>
            <a:ext cx="1714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3772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05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076325"/>
            <a:ext cx="1428750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true">
                <a:solidFill>
                  <a:srgbClr val="151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Tiga selector yang sering dipakai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7750" y="1866900"/>
            <a:ext cx="16192500" cy="28575"/>
            <a:chOff x="0" y="0"/>
            <a:chExt cx="215900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590000" cy="38100"/>
            </a:xfrm>
            <a:custGeom>
              <a:avLst/>
              <a:gdLst/>
              <a:ahLst/>
              <a:cxnLst/>
              <a:rect r="r" b="b" t="t" l="l"/>
              <a:pathLst>
                <a:path h="38100" w="21590000">
                  <a:moveTo>
                    <a:pt x="0" y="0"/>
                  </a:moveTo>
                  <a:lnTo>
                    <a:pt x="21590000" y="0"/>
                  </a:lnTo>
                  <a:lnTo>
                    <a:pt x="21590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8DEF5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590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47750" y="2619375"/>
            <a:ext cx="4953000" cy="3333750"/>
            <a:chOff x="0" y="0"/>
            <a:chExt cx="6604000" cy="44450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6604000" cy="4445000"/>
              <a:chOff x="0" y="0"/>
              <a:chExt cx="6604000" cy="4445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604000" cy="4445000"/>
              </a:xfrm>
              <a:custGeom>
                <a:avLst/>
                <a:gdLst/>
                <a:ahLst/>
                <a:cxnLst/>
                <a:rect r="r" b="b" t="t" l="l"/>
                <a:pathLst>
                  <a:path h="4445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4445000"/>
                    </a:lnTo>
                    <a:lnTo>
                      <a:pt x="0" y="4445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6604000" cy="448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444500" y="342900"/>
              <a:ext cx="5842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98" b="true">
                  <a:solidFill>
                    <a:srgbClr val="3772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ELEMEN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444500" y="1330325"/>
              <a:ext cx="5842000" cy="946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72"/>
                </a:lnSpc>
              </a:pPr>
              <a:r>
                <a:rPr lang="en-US" sz="4350">
                  <a:solidFill>
                    <a:srgbClr val="151936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p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444500" y="2873375"/>
              <a:ext cx="5842000" cy="448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>
                  <a:solidFill>
                    <a:srgbClr val="657093"/>
                  </a:solidFill>
                  <a:latin typeface="Open Sans"/>
                  <a:ea typeface="Open Sans"/>
                  <a:cs typeface="Open Sans"/>
                  <a:sym typeface="Open Sans"/>
                </a:rPr>
                <a:t>Memilih semua &lt;p&gt;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762750" y="2619375"/>
            <a:ext cx="4953000" cy="3333750"/>
            <a:chOff x="0" y="0"/>
            <a:chExt cx="6604000" cy="44450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6604000" cy="4445000"/>
              <a:chOff x="0" y="0"/>
              <a:chExt cx="6604000" cy="4445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6604000" cy="4445000"/>
              </a:xfrm>
              <a:custGeom>
                <a:avLst/>
                <a:gdLst/>
                <a:ahLst/>
                <a:cxnLst/>
                <a:rect r="r" b="b" t="t" l="l"/>
                <a:pathLst>
                  <a:path h="4445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4445000"/>
                    </a:lnTo>
                    <a:lnTo>
                      <a:pt x="0" y="4445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6604000" cy="448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444500" y="342900"/>
              <a:ext cx="5842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98" b="true">
                  <a:solidFill>
                    <a:srgbClr val="3772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CLASS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444500" y="1330325"/>
              <a:ext cx="5842000" cy="946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72"/>
                </a:lnSpc>
              </a:pPr>
              <a:r>
                <a:rPr lang="en-US" sz="4350">
                  <a:solidFill>
                    <a:srgbClr val="151936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.tombol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444500" y="2873375"/>
              <a:ext cx="5842000" cy="448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>
                  <a:solidFill>
                    <a:srgbClr val="657093"/>
                  </a:solidFill>
                  <a:latin typeface="Open Sans"/>
                  <a:ea typeface="Open Sans"/>
                  <a:cs typeface="Open Sans"/>
                  <a:sym typeface="Open Sans"/>
                </a:rPr>
                <a:t>Bisa dipakai berulang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477750" y="2619375"/>
            <a:ext cx="4953000" cy="3333750"/>
            <a:chOff x="0" y="0"/>
            <a:chExt cx="6604000" cy="44450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6604000" cy="4445000"/>
              <a:chOff x="0" y="0"/>
              <a:chExt cx="6604000" cy="4445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604000" cy="4445000"/>
              </a:xfrm>
              <a:custGeom>
                <a:avLst/>
                <a:gdLst/>
                <a:ahLst/>
                <a:cxnLst/>
                <a:rect r="r" b="b" t="t" l="l"/>
                <a:pathLst>
                  <a:path h="4445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4445000"/>
                    </a:lnTo>
                    <a:lnTo>
                      <a:pt x="0" y="4445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6604000" cy="448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444500" y="342900"/>
              <a:ext cx="5842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98" b="true">
                  <a:solidFill>
                    <a:srgbClr val="3772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ID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444500" y="1330325"/>
              <a:ext cx="5842000" cy="946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72"/>
                </a:lnSpc>
              </a:pPr>
              <a:r>
                <a:rPr lang="en-US" sz="4350">
                  <a:solidFill>
                    <a:srgbClr val="151936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#judul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444500" y="2873375"/>
              <a:ext cx="5842000" cy="448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>
                  <a:solidFill>
                    <a:srgbClr val="657093"/>
                  </a:solidFill>
                  <a:latin typeface="Open Sans"/>
                  <a:ea typeface="Open Sans"/>
                  <a:cs typeface="Open Sans"/>
                  <a:sym typeface="Open Sans"/>
                </a:rPr>
                <a:t>Khusus satu elemen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190750" y="6858000"/>
            <a:ext cx="13906500" cy="2000250"/>
            <a:chOff x="0" y="0"/>
            <a:chExt cx="18542000" cy="2667000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18542000" cy="2667000"/>
              <a:chOff x="0" y="0"/>
              <a:chExt cx="18542000" cy="26670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8542000" cy="2667000"/>
              </a:xfrm>
              <a:custGeom>
                <a:avLst/>
                <a:gdLst/>
                <a:ahLst/>
                <a:cxnLst/>
                <a:rect r="r" b="b" t="t" l="l"/>
                <a:pathLst>
                  <a:path h="2667000" w="18542000">
                    <a:moveTo>
                      <a:pt x="0" y="0"/>
                    </a:moveTo>
                    <a:lnTo>
                      <a:pt x="18542000" y="0"/>
                    </a:lnTo>
                    <a:lnTo>
                      <a:pt x="18542000" y="2667000"/>
                    </a:lnTo>
                    <a:lnTo>
                      <a:pt x="0" y="2667000"/>
                    </a:lnTo>
                    <a:close/>
                  </a:path>
                </a:pathLst>
              </a:custGeom>
              <a:solidFill>
                <a:srgbClr val="151B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18542000" cy="270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431800" y="317500"/>
              <a:ext cx="17678400" cy="443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DFF7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<![CDATA[<h1 id="judul">Halo!</h1>   <p>Selamat datang.</p>   <a class="tombol">Mulai</a>]]>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552450"/>
            <a:ext cx="1714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42D7E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076325"/>
            <a:ext cx="1428750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Color membangun suasana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7750" y="1866900"/>
            <a:ext cx="16192500" cy="28575"/>
            <a:chOff x="0" y="0"/>
            <a:chExt cx="215900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590000" cy="38100"/>
            </a:xfrm>
            <a:custGeom>
              <a:avLst/>
              <a:gdLst/>
              <a:ahLst/>
              <a:cxnLst/>
              <a:rect r="r" b="b" t="t" l="l"/>
              <a:pathLst>
                <a:path h="38100" w="21590000">
                  <a:moveTo>
                    <a:pt x="0" y="0"/>
                  </a:moveTo>
                  <a:lnTo>
                    <a:pt x="21590000" y="0"/>
                  </a:lnTo>
                  <a:lnTo>
                    <a:pt x="21590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8B5CF6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590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43000" y="2952750"/>
            <a:ext cx="1619250" cy="1619250"/>
            <a:chOff x="0" y="0"/>
            <a:chExt cx="2159000" cy="2159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59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2159000">
                  <a:moveTo>
                    <a:pt x="0" y="0"/>
                  </a:moveTo>
                  <a:lnTo>
                    <a:pt x="2159000" y="0"/>
                  </a:lnTo>
                  <a:lnTo>
                    <a:pt x="21590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3772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59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143250" y="2952750"/>
            <a:ext cx="1619250" cy="1619250"/>
            <a:chOff x="0" y="0"/>
            <a:chExt cx="2159000" cy="2159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59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2159000">
                  <a:moveTo>
                    <a:pt x="0" y="0"/>
                  </a:moveTo>
                  <a:lnTo>
                    <a:pt x="2159000" y="0"/>
                  </a:lnTo>
                  <a:lnTo>
                    <a:pt x="21590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8B5CF6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159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143500" y="2952750"/>
            <a:ext cx="1619250" cy="1619250"/>
            <a:chOff x="0" y="0"/>
            <a:chExt cx="2159000" cy="2159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59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2159000">
                  <a:moveTo>
                    <a:pt x="0" y="0"/>
                  </a:moveTo>
                  <a:lnTo>
                    <a:pt x="2159000" y="0"/>
                  </a:lnTo>
                  <a:lnTo>
                    <a:pt x="21590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42D7E8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159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143750" y="2952750"/>
            <a:ext cx="1619250" cy="1619250"/>
            <a:chOff x="0" y="0"/>
            <a:chExt cx="2159000" cy="2159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59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2159000">
                  <a:moveTo>
                    <a:pt x="0" y="0"/>
                  </a:moveTo>
                  <a:lnTo>
                    <a:pt x="2159000" y="0"/>
                  </a:lnTo>
                  <a:lnTo>
                    <a:pt x="21590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FFCC66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159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096500" y="2714625"/>
            <a:ext cx="6667500" cy="3381375"/>
            <a:chOff x="0" y="0"/>
            <a:chExt cx="8890000" cy="45085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8890000" cy="4508500"/>
              <a:chOff x="0" y="0"/>
              <a:chExt cx="8890000" cy="45085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890000" cy="4508500"/>
              </a:xfrm>
              <a:custGeom>
                <a:avLst/>
                <a:gdLst/>
                <a:ahLst/>
                <a:cxnLst/>
                <a:rect r="r" b="b" t="t" l="l"/>
                <a:pathLst>
                  <a:path h="4508500" w="8890000">
                    <a:moveTo>
                      <a:pt x="0" y="0"/>
                    </a:moveTo>
                    <a:lnTo>
                      <a:pt x="8890000" y="0"/>
                    </a:lnTo>
                    <a:lnTo>
                      <a:pt x="8890000" y="4508500"/>
                    </a:lnTo>
                    <a:lnTo>
                      <a:pt x="0" y="4508500"/>
                    </a:lnTo>
                    <a:close/>
                  </a:path>
                </a:pathLst>
              </a:custGeom>
              <a:solidFill>
                <a:srgbClr val="151B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8890000" cy="454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431800" y="317500"/>
              <a:ext cx="8026400" cy="22726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DFF7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body {</a:t>
              </a:r>
            </a:p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DFF7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background: #0b1026;</a:t>
              </a:r>
            </a:p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DFF7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color: #ffffff;</a:t>
              </a:r>
            </a:p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DFF7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}</a:t>
              </a:r>
            </a:p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DFF7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.tombol { background: #8b5cf6; }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143000" y="5105400"/>
            <a:ext cx="38100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252" b="true">
                <a:solidFill>
                  <a:srgbClr val="AEB8E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Sebelum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43000" y="5800725"/>
            <a:ext cx="7429500" cy="860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31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Sesudah: kontras jelas, mood konsisten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096500" y="6819900"/>
            <a:ext cx="66675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CDD5FF"/>
                </a:solidFill>
                <a:latin typeface="Open Sans"/>
                <a:ea typeface="Open Sans"/>
                <a:cs typeface="Open Sans"/>
                <a:sym typeface="Open Sans"/>
              </a:rPr>
              <a:t>Gunakan 2–4 warna utama agar desain tetap rapi.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4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552450"/>
            <a:ext cx="1714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3772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07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076325"/>
            <a:ext cx="1428750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true">
                <a:solidFill>
                  <a:srgbClr val="151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Typography membuat teks mudah dibaca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7750" y="1866900"/>
            <a:ext cx="16192500" cy="28575"/>
            <a:chOff x="0" y="0"/>
            <a:chExt cx="215900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590000" cy="38100"/>
            </a:xfrm>
            <a:custGeom>
              <a:avLst/>
              <a:gdLst/>
              <a:ahLst/>
              <a:cxnLst/>
              <a:rect r="r" b="b" t="t" l="l"/>
              <a:pathLst>
                <a:path h="38100" w="21590000">
                  <a:moveTo>
                    <a:pt x="0" y="0"/>
                  </a:moveTo>
                  <a:lnTo>
                    <a:pt x="21590000" y="0"/>
                  </a:lnTo>
                  <a:lnTo>
                    <a:pt x="21590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8DEF5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590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52500" y="2571750"/>
            <a:ext cx="7429500" cy="1809750"/>
            <a:chOff x="0" y="0"/>
            <a:chExt cx="9906000" cy="2413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906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9906000">
                  <a:moveTo>
                    <a:pt x="0" y="0"/>
                  </a:moveTo>
                  <a:lnTo>
                    <a:pt x="9906000" y="0"/>
                  </a:lnTo>
                  <a:lnTo>
                    <a:pt x="9906000" y="2413000"/>
                  </a:lnTo>
                  <a:lnTo>
                    <a:pt x="0" y="2413000"/>
                  </a:lnTo>
                  <a:close/>
                </a:path>
              </a:pathLst>
            </a:custGeom>
            <a:solidFill>
              <a:srgbClr val="E7E9F2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9060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238250" y="2867025"/>
            <a:ext cx="666750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657093"/>
                </a:solidFill>
                <a:latin typeface="Open Sans"/>
                <a:ea typeface="Open Sans"/>
                <a:cs typeface="Open Sans"/>
                <a:sym typeface="Open Sans"/>
              </a:rPr>
              <a:t>selamat datang di website kami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239250" y="2381250"/>
            <a:ext cx="7810500" cy="4762500"/>
            <a:chOff x="0" y="0"/>
            <a:chExt cx="10414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414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10414000">
                  <a:moveTo>
                    <a:pt x="0" y="0"/>
                  </a:moveTo>
                  <a:lnTo>
                    <a:pt x="10414000" y="0"/>
                  </a:lnTo>
                  <a:lnTo>
                    <a:pt x="10414000" y="6350000"/>
                  </a:lnTo>
                  <a:lnTo>
                    <a:pt x="0" y="6350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414000" cy="638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620250" y="2828925"/>
            <a:ext cx="7239000" cy="772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27"/>
              </a:lnSpc>
            </a:pPr>
            <a:r>
              <a:rPr lang="en-US" sz="5550" b="true">
                <a:solidFill>
                  <a:srgbClr val="151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Selamat Datang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20250" y="4333875"/>
            <a:ext cx="657225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4"/>
              </a:lnSpc>
            </a:pPr>
            <a:r>
              <a:rPr lang="en-US" sz="2325">
                <a:solidFill>
                  <a:srgbClr val="657093"/>
                </a:solidFill>
                <a:latin typeface="Open Sans"/>
                <a:ea typeface="Open Sans"/>
                <a:cs typeface="Open Sans"/>
                <a:sym typeface="Open Sans"/>
              </a:rPr>
              <a:t>Ukuran besar untuk judul</a:t>
            </a:r>
          </a:p>
          <a:p>
            <a:pPr algn="l">
              <a:lnSpc>
                <a:spcPts val="3254"/>
              </a:lnSpc>
            </a:pPr>
            <a:r>
              <a:rPr lang="en-US" sz="2325">
                <a:solidFill>
                  <a:srgbClr val="657093"/>
                </a:solidFill>
                <a:latin typeface="Open Sans"/>
                <a:ea typeface="Open Sans"/>
                <a:cs typeface="Open Sans"/>
                <a:sym typeface="Open Sans"/>
              </a:rPr>
              <a:t>Jarak baris lega untuk paragraf</a:t>
            </a:r>
          </a:p>
          <a:p>
            <a:pPr algn="l">
              <a:lnSpc>
                <a:spcPts val="3254"/>
              </a:lnSpc>
            </a:pPr>
            <a:r>
              <a:rPr lang="en-US" sz="2325">
                <a:solidFill>
                  <a:srgbClr val="657093"/>
                </a:solidFill>
                <a:latin typeface="Open Sans"/>
                <a:ea typeface="Open Sans"/>
                <a:cs typeface="Open Sans"/>
                <a:sym typeface="Open Sans"/>
              </a:rPr>
              <a:t>Font konsisten untuk identitas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24000" y="5200650"/>
            <a:ext cx="6477000" cy="1111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3772FF"/>
                </a:solidFill>
                <a:latin typeface="IBM Plex Mono"/>
                <a:ea typeface="IBM Plex Mono"/>
                <a:cs typeface="IBM Plex Mono"/>
                <a:sym typeface="IBM Plex Mono"/>
              </a:rPr>
              <a:t>font-family: 'Manrope';</a:t>
            </a:r>
          </a:p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3772FF"/>
                </a:solidFill>
                <a:latin typeface="IBM Plex Mono"/>
                <a:ea typeface="IBM Plex Mono"/>
                <a:cs typeface="IBM Plex Mono"/>
                <a:sym typeface="IBM Plex Mono"/>
              </a:rPr>
              <a:t>font-size: 48px;</a:t>
            </a:r>
          </a:p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3772FF"/>
                </a:solidFill>
                <a:latin typeface="IBM Plex Mono"/>
                <a:ea typeface="IBM Plex Mono"/>
                <a:cs typeface="IBM Plex Mono"/>
                <a:sym typeface="IBM Plex Mono"/>
              </a:rPr>
              <a:t>line-height: 1.4;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4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552450"/>
            <a:ext cx="1714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3772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08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076325"/>
            <a:ext cx="1428750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true">
                <a:solidFill>
                  <a:srgbClr val="151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Studi kasus — sebelum CSS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7750" y="1866900"/>
            <a:ext cx="16192500" cy="28575"/>
            <a:chOff x="0" y="0"/>
            <a:chExt cx="215900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590000" cy="38100"/>
            </a:xfrm>
            <a:custGeom>
              <a:avLst/>
              <a:gdLst/>
              <a:ahLst/>
              <a:cxnLst/>
              <a:rect r="r" b="b" t="t" l="l"/>
              <a:pathLst>
                <a:path h="38100" w="21590000">
                  <a:moveTo>
                    <a:pt x="0" y="0"/>
                  </a:moveTo>
                  <a:lnTo>
                    <a:pt x="21590000" y="0"/>
                  </a:lnTo>
                  <a:lnTo>
                    <a:pt x="21590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8DEF5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590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28750" y="2476500"/>
            <a:ext cx="15430500" cy="6191250"/>
            <a:chOff x="0" y="0"/>
            <a:chExt cx="20574000" cy="8255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574000" cy="8255000"/>
            </a:xfrm>
            <a:custGeom>
              <a:avLst/>
              <a:gdLst/>
              <a:ahLst/>
              <a:cxnLst/>
              <a:rect r="r" b="b" t="t" l="l"/>
              <a:pathLst>
                <a:path h="8255000" w="20574000">
                  <a:moveTo>
                    <a:pt x="0" y="0"/>
                  </a:moveTo>
                  <a:lnTo>
                    <a:pt x="20574000" y="0"/>
                  </a:lnTo>
                  <a:lnTo>
                    <a:pt x="20574000" y="8255000"/>
                  </a:lnTo>
                  <a:lnTo>
                    <a:pt x="0" y="8255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0574000" cy="829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28750" y="2476500"/>
            <a:ext cx="15430500" cy="552450"/>
            <a:chOff x="0" y="0"/>
            <a:chExt cx="20574000" cy="736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574000" cy="736600"/>
            </a:xfrm>
            <a:custGeom>
              <a:avLst/>
              <a:gdLst/>
              <a:ahLst/>
              <a:cxnLst/>
              <a:rect r="r" b="b" t="t" l="l"/>
              <a:pathLst>
                <a:path h="736600" w="20574000">
                  <a:moveTo>
                    <a:pt x="0" y="0"/>
                  </a:moveTo>
                  <a:lnTo>
                    <a:pt x="20574000" y="0"/>
                  </a:lnTo>
                  <a:lnTo>
                    <a:pt x="20574000" y="736600"/>
                  </a:lnTo>
                  <a:lnTo>
                    <a:pt x="0" y="736600"/>
                  </a:lnTo>
                  <a:close/>
                </a:path>
              </a:pathLst>
            </a:custGeom>
            <a:solidFill>
              <a:srgbClr val="DFE3EF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05740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762125" y="2571750"/>
            <a:ext cx="17145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57093"/>
                </a:solidFill>
                <a:latin typeface="Open Sans"/>
                <a:ea typeface="Open Sans"/>
                <a:cs typeface="Open Sans"/>
                <a:sym typeface="Open Sans"/>
              </a:rPr>
              <a:t>●  ●  ●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81250" y="3638550"/>
            <a:ext cx="952500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37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Belajar Web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381250" y="4724400"/>
            <a:ext cx="95250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Mari belajar HTML dan CSS bersama.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2381250" y="5905500"/>
            <a:ext cx="2286000" cy="666750"/>
            <a:chOff x="0" y="0"/>
            <a:chExt cx="3048000" cy="889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048000" cy="889000"/>
            </a:xfrm>
            <a:custGeom>
              <a:avLst/>
              <a:gdLst/>
              <a:ahLst/>
              <a:cxnLst/>
              <a:rect r="r" b="b" t="t" l="l"/>
              <a:pathLst>
                <a:path h="88900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889000"/>
                  </a:lnTo>
                  <a:lnTo>
                    <a:pt x="0" y="889000"/>
                  </a:lnTo>
                  <a:close/>
                </a:path>
              </a:pathLst>
            </a:custGeom>
            <a:solidFill>
              <a:srgbClr val="D6D6D6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048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667000" y="6000750"/>
            <a:ext cx="17145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Mulai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20250" y="6524625"/>
            <a:ext cx="6191250" cy="80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4"/>
              </a:lnSpc>
            </a:pPr>
            <a:r>
              <a:rPr lang="en-US" sz="2325">
                <a:solidFill>
                  <a:srgbClr val="657093"/>
                </a:solidFill>
                <a:latin typeface="Open Sans"/>
                <a:ea typeface="Open Sans"/>
                <a:cs typeface="Open Sans"/>
                <a:sym typeface="Open Sans"/>
              </a:rPr>
              <a:t>Konten sudah benar, tetapi hierarki visual belum terasa.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552450"/>
            <a:ext cx="1714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42D7E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09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076325"/>
            <a:ext cx="1428750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Website sama. Pengalaman baru.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7750" y="1866900"/>
            <a:ext cx="16192500" cy="28575"/>
            <a:chOff x="0" y="0"/>
            <a:chExt cx="215900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590000" cy="38100"/>
            </a:xfrm>
            <a:custGeom>
              <a:avLst/>
              <a:gdLst/>
              <a:ahLst/>
              <a:cxnLst/>
              <a:rect r="r" b="b" t="t" l="l"/>
              <a:pathLst>
                <a:path h="38100" w="21590000">
                  <a:moveTo>
                    <a:pt x="0" y="0"/>
                  </a:moveTo>
                  <a:lnTo>
                    <a:pt x="21590000" y="0"/>
                  </a:lnTo>
                  <a:lnTo>
                    <a:pt x="21590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8B5CF6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590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43000" y="2428875"/>
            <a:ext cx="16002000" cy="6477000"/>
            <a:chOff x="0" y="0"/>
            <a:chExt cx="21336000" cy="863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336000" cy="8636000"/>
            </a:xfrm>
            <a:custGeom>
              <a:avLst/>
              <a:gdLst/>
              <a:ahLst/>
              <a:cxnLst/>
              <a:rect r="r" b="b" t="t" l="l"/>
              <a:pathLst>
                <a:path h="86360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8636000"/>
                  </a:lnTo>
                  <a:lnTo>
                    <a:pt x="0" y="8636000"/>
                  </a:lnTo>
                  <a:close/>
                </a:path>
              </a:pathLst>
            </a:custGeom>
            <a:solidFill>
              <a:srgbClr val="151B38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336000" cy="867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43000" y="2428875"/>
            <a:ext cx="16002000" cy="552450"/>
            <a:chOff x="0" y="0"/>
            <a:chExt cx="21336000" cy="736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336000" cy="736600"/>
            </a:xfrm>
            <a:custGeom>
              <a:avLst/>
              <a:gdLst/>
              <a:ahLst/>
              <a:cxnLst/>
              <a:rect r="r" b="b" t="t" l="l"/>
              <a:pathLst>
                <a:path h="7366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736600"/>
                  </a:lnTo>
                  <a:lnTo>
                    <a:pt x="0" y="736600"/>
                  </a:lnTo>
                  <a:close/>
                </a:path>
              </a:pathLst>
            </a:custGeom>
            <a:solidFill>
              <a:srgbClr val="252D55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13360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476375" y="2524125"/>
            <a:ext cx="17145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2D7E8"/>
                </a:solidFill>
                <a:latin typeface="Open Sans"/>
                <a:ea typeface="Open Sans"/>
                <a:cs typeface="Open Sans"/>
                <a:sym typeface="Open Sans"/>
              </a:rPr>
              <a:t>●  ●  ●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95500" y="3686175"/>
            <a:ext cx="4762500" cy="289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spc="207" b="true">
                <a:solidFill>
                  <a:srgbClr val="42D7E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KELAS PROGRAM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95500" y="4410075"/>
            <a:ext cx="8096250" cy="1414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2"/>
              </a:lnSpc>
            </a:pPr>
            <a:r>
              <a:rPr lang="en-US" sz="52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Belajar Web.</a:t>
            </a:r>
          </a:p>
          <a:p>
            <a:pPr algn="l">
              <a:lnSpc>
                <a:spcPts val="5512"/>
              </a:lnSpc>
            </a:pPr>
            <a:r>
              <a:rPr lang="en-US" sz="52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Mulai dari sini.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95500" y="6153150"/>
            <a:ext cx="72390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CBD3FF"/>
                </a:solidFill>
                <a:latin typeface="Open Sans"/>
                <a:ea typeface="Open Sans"/>
                <a:cs typeface="Open Sans"/>
                <a:sym typeface="Open Sans"/>
              </a:rPr>
              <a:t>HTML membangun struktur. CSS membuatnya hidup.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2095500" y="7524750"/>
            <a:ext cx="2667000" cy="781050"/>
            <a:chOff x="0" y="0"/>
            <a:chExt cx="3556000" cy="1041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5560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3556000">
                  <a:moveTo>
                    <a:pt x="81643" y="0"/>
                  </a:moveTo>
                  <a:lnTo>
                    <a:pt x="3474357" y="0"/>
                  </a:lnTo>
                  <a:cubicBezTo>
                    <a:pt x="3519447" y="0"/>
                    <a:pt x="3556000" y="36553"/>
                    <a:pt x="3556000" y="81643"/>
                  </a:cubicBezTo>
                  <a:lnTo>
                    <a:pt x="3556000" y="959757"/>
                  </a:lnTo>
                  <a:cubicBezTo>
                    <a:pt x="3556000" y="1004847"/>
                    <a:pt x="3519447" y="1041400"/>
                    <a:pt x="3474357" y="1041400"/>
                  </a:cubicBezTo>
                  <a:lnTo>
                    <a:pt x="81643" y="1041400"/>
                  </a:lnTo>
                  <a:cubicBezTo>
                    <a:pt x="36553" y="1041400"/>
                    <a:pt x="0" y="1004847"/>
                    <a:pt x="0" y="959757"/>
                  </a:cubicBezTo>
                  <a:lnTo>
                    <a:pt x="0" y="81643"/>
                  </a:lnTo>
                  <a:cubicBezTo>
                    <a:pt x="0" y="36553"/>
                    <a:pt x="36553" y="0"/>
                    <a:pt x="81643" y="0"/>
                  </a:cubicBezTo>
                  <a:close/>
                </a:path>
              </a:pathLst>
            </a:custGeom>
            <a:solidFill>
              <a:srgbClr val="8B5CF6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556000" cy="1079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Mulai belajar →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334750" y="3714750"/>
            <a:ext cx="4095750" cy="3429000"/>
            <a:chOff x="0" y="0"/>
            <a:chExt cx="5461000" cy="4572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61000" cy="4572000"/>
            </a:xfrm>
            <a:custGeom>
              <a:avLst/>
              <a:gdLst/>
              <a:ahLst/>
              <a:cxnLst/>
              <a:rect r="r" b="b" t="t" l="l"/>
              <a:pathLst>
                <a:path h="4572000" w="5461000">
                  <a:moveTo>
                    <a:pt x="53163" y="0"/>
                  </a:moveTo>
                  <a:lnTo>
                    <a:pt x="5407837" y="0"/>
                  </a:lnTo>
                  <a:cubicBezTo>
                    <a:pt x="5421937" y="0"/>
                    <a:pt x="5435459" y="5601"/>
                    <a:pt x="5445429" y="15571"/>
                  </a:cubicBezTo>
                  <a:cubicBezTo>
                    <a:pt x="5455399" y="25541"/>
                    <a:pt x="5461000" y="39063"/>
                    <a:pt x="5461000" y="53163"/>
                  </a:cubicBezTo>
                  <a:lnTo>
                    <a:pt x="5461000" y="4518837"/>
                  </a:lnTo>
                  <a:cubicBezTo>
                    <a:pt x="5461000" y="4532937"/>
                    <a:pt x="5455399" y="4546459"/>
                    <a:pt x="5445429" y="4556429"/>
                  </a:cubicBezTo>
                  <a:cubicBezTo>
                    <a:pt x="5435459" y="4566399"/>
                    <a:pt x="5421937" y="4572000"/>
                    <a:pt x="5407837" y="4572000"/>
                  </a:cubicBezTo>
                  <a:lnTo>
                    <a:pt x="53163" y="4572000"/>
                  </a:lnTo>
                  <a:cubicBezTo>
                    <a:pt x="39063" y="4572000"/>
                    <a:pt x="25541" y="4566399"/>
                    <a:pt x="15571" y="4556429"/>
                  </a:cubicBezTo>
                  <a:cubicBezTo>
                    <a:pt x="5601" y="4546459"/>
                    <a:pt x="0" y="4532937"/>
                    <a:pt x="0" y="4518837"/>
                  </a:cubicBezTo>
                  <a:lnTo>
                    <a:pt x="0" y="53163"/>
                  </a:lnTo>
                  <a:cubicBezTo>
                    <a:pt x="0" y="39063"/>
                    <a:pt x="5601" y="25541"/>
                    <a:pt x="15571" y="15571"/>
                  </a:cubicBezTo>
                  <a:cubicBezTo>
                    <a:pt x="25541" y="5601"/>
                    <a:pt x="39063" y="0"/>
                    <a:pt x="53163" y="0"/>
                  </a:cubicBezTo>
                  <a:close/>
                </a:path>
              </a:pathLst>
            </a:custGeom>
            <a:solidFill>
              <a:srgbClr val="3772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5461000" cy="4629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SELECTOR</a:t>
              </a:r>
            </a:p>
            <a:p>
              <a:pPr algn="ctr">
                <a:lnSpc>
                  <a:spcPts val="42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+ COLOR</a:t>
              </a:r>
            </a:p>
            <a:p>
              <a:pPr algn="ctr">
                <a:lnSpc>
                  <a:spcPts val="42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+ TYPE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4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552450"/>
            <a:ext cx="1714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3772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076325"/>
            <a:ext cx="1428750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true">
                <a:solidFill>
                  <a:srgbClr val="151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Mini challenge — 15 menit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7750" y="1866900"/>
            <a:ext cx="16192500" cy="28575"/>
            <a:chOff x="0" y="0"/>
            <a:chExt cx="215900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590000" cy="38100"/>
            </a:xfrm>
            <a:custGeom>
              <a:avLst/>
              <a:gdLst/>
              <a:ahLst/>
              <a:cxnLst/>
              <a:rect r="r" b="b" t="t" l="l"/>
              <a:pathLst>
                <a:path h="38100" w="21590000">
                  <a:moveTo>
                    <a:pt x="0" y="0"/>
                  </a:moveTo>
                  <a:lnTo>
                    <a:pt x="21590000" y="0"/>
                  </a:lnTo>
                  <a:lnTo>
                    <a:pt x="21590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8DEF5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590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43000" y="2714625"/>
            <a:ext cx="16002000" cy="1428750"/>
            <a:chOff x="0" y="0"/>
            <a:chExt cx="21336000" cy="19050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1336000" cy="1905000"/>
              <a:chOff x="0" y="0"/>
              <a:chExt cx="21336000" cy="1905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1336000" cy="1905000"/>
              </a:xfrm>
              <a:custGeom>
                <a:avLst/>
                <a:gdLst/>
                <a:ahLst/>
                <a:cxnLst/>
                <a:rect r="r" b="b" t="t" l="l"/>
                <a:pathLst>
                  <a:path h="1905000" w="21336000">
                    <a:moveTo>
                      <a:pt x="0" y="0"/>
                    </a:moveTo>
                    <a:lnTo>
                      <a:pt x="21336000" y="0"/>
                    </a:lnTo>
                    <a:lnTo>
                      <a:pt x="21336000" y="1905000"/>
                    </a:lnTo>
                    <a:lnTo>
                      <a:pt x="0" y="1905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21336000" cy="194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444500" y="393700"/>
              <a:ext cx="1270000" cy="600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07"/>
                </a:lnSpc>
              </a:pPr>
              <a:r>
                <a:rPr lang="en-US" sz="3150" b="true">
                  <a:solidFill>
                    <a:srgbClr val="8B5CF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01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2286000" y="317500"/>
              <a:ext cx="5969000" cy="5003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700" b="true">
                  <a:solidFill>
                    <a:srgbClr val="15193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Ubah warna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9017000" y="317500"/>
              <a:ext cx="88900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657093"/>
                  </a:solidFill>
                  <a:latin typeface="Open Sans"/>
                  <a:ea typeface="Open Sans"/>
                  <a:cs typeface="Open Sans"/>
                  <a:sym typeface="Open Sans"/>
                </a:rPr>
                <a:t>Pilih kombinasi teks + latar.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43000" y="4667250"/>
            <a:ext cx="16002000" cy="1428750"/>
            <a:chOff x="0" y="0"/>
            <a:chExt cx="21336000" cy="19050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21336000" cy="1905000"/>
              <a:chOff x="0" y="0"/>
              <a:chExt cx="21336000" cy="1905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1336000" cy="1905000"/>
              </a:xfrm>
              <a:custGeom>
                <a:avLst/>
                <a:gdLst/>
                <a:ahLst/>
                <a:cxnLst/>
                <a:rect r="r" b="b" t="t" l="l"/>
                <a:pathLst>
                  <a:path h="1905000" w="21336000">
                    <a:moveTo>
                      <a:pt x="0" y="0"/>
                    </a:moveTo>
                    <a:lnTo>
                      <a:pt x="21336000" y="0"/>
                    </a:lnTo>
                    <a:lnTo>
                      <a:pt x="21336000" y="1905000"/>
                    </a:lnTo>
                    <a:lnTo>
                      <a:pt x="0" y="1905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21336000" cy="194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444500" y="393700"/>
              <a:ext cx="1270000" cy="600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07"/>
                </a:lnSpc>
              </a:pPr>
              <a:r>
                <a:rPr lang="en-US" sz="3150" b="true">
                  <a:solidFill>
                    <a:srgbClr val="8B5CF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02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2286000" y="317500"/>
              <a:ext cx="5969000" cy="5003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700" b="true">
                  <a:solidFill>
                    <a:srgbClr val="15193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Atur typography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9017000" y="317500"/>
              <a:ext cx="88900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657093"/>
                  </a:solidFill>
                  <a:latin typeface="Open Sans"/>
                  <a:ea typeface="Open Sans"/>
                  <a:cs typeface="Open Sans"/>
                  <a:sym typeface="Open Sans"/>
                </a:rPr>
                <a:t>Besarkan judul, rapikan paragraf.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43000" y="6619875"/>
            <a:ext cx="16002000" cy="1428750"/>
            <a:chOff x="0" y="0"/>
            <a:chExt cx="21336000" cy="19050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21336000" cy="1905000"/>
              <a:chOff x="0" y="0"/>
              <a:chExt cx="21336000" cy="1905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21336000" cy="1905000"/>
              </a:xfrm>
              <a:custGeom>
                <a:avLst/>
                <a:gdLst/>
                <a:ahLst/>
                <a:cxnLst/>
                <a:rect r="r" b="b" t="t" l="l"/>
                <a:pathLst>
                  <a:path h="1905000" w="21336000">
                    <a:moveTo>
                      <a:pt x="0" y="0"/>
                    </a:moveTo>
                    <a:lnTo>
                      <a:pt x="21336000" y="0"/>
                    </a:lnTo>
                    <a:lnTo>
                      <a:pt x="21336000" y="1905000"/>
                    </a:lnTo>
                    <a:lnTo>
                      <a:pt x="0" y="1905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21336000" cy="194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444500" y="393700"/>
              <a:ext cx="1270000" cy="600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07"/>
                </a:lnSpc>
              </a:pPr>
              <a:r>
                <a:rPr lang="en-US" sz="3150" b="true">
                  <a:solidFill>
                    <a:srgbClr val="8B5CF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03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2286000" y="317500"/>
              <a:ext cx="5969000" cy="5003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700" b="true">
                  <a:solidFill>
                    <a:srgbClr val="15193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Gaya tombol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9017000" y="317500"/>
              <a:ext cx="88900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657093"/>
                  </a:solidFill>
                  <a:latin typeface="Open Sans"/>
                  <a:ea typeface="Open Sans"/>
                  <a:cs typeface="Open Sans"/>
                  <a:sym typeface="Open Sans"/>
                </a:rPr>
                <a:t>Pakai class .tombol dan hover.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2095500" y="8886825"/>
            <a:ext cx="1409700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2"/>
              </a:lnSpc>
            </a:pPr>
            <a:r>
              <a:rPr lang="en-US" sz="2250" b="true">
                <a:solidFill>
                  <a:srgbClr val="3772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Target: hasilmu harus lebih jelas, konsisten, dan nyaman dibaca.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552450"/>
            <a:ext cx="1714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42D7E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076325"/>
            <a:ext cx="1428750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CSS adalah langkah berikutnya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7750" y="1866900"/>
            <a:ext cx="16192500" cy="28575"/>
            <a:chOff x="0" y="0"/>
            <a:chExt cx="215900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590000" cy="38100"/>
            </a:xfrm>
            <a:custGeom>
              <a:avLst/>
              <a:gdLst/>
              <a:ahLst/>
              <a:cxnLst/>
              <a:rect r="r" b="b" t="t" l="l"/>
              <a:pathLst>
                <a:path h="38100" w="21590000">
                  <a:moveTo>
                    <a:pt x="0" y="0"/>
                  </a:moveTo>
                  <a:lnTo>
                    <a:pt x="21590000" y="0"/>
                  </a:lnTo>
                  <a:lnTo>
                    <a:pt x="21590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8B5CF6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590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524000" y="3200400"/>
            <a:ext cx="4095750" cy="575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0"/>
              </a:lnSpc>
            </a:pPr>
            <a:r>
              <a:rPr lang="en-US" sz="4200" b="true">
                <a:solidFill>
                  <a:srgbClr val="42D7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PILIH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24000" y="3971925"/>
            <a:ext cx="4095750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7"/>
              </a:lnSpc>
            </a:pPr>
            <a:r>
              <a:rPr lang="en-US" sz="2250">
                <a:solidFill>
                  <a:srgbClr val="CBD3FF"/>
                </a:solidFill>
                <a:latin typeface="IBM Plex Mono"/>
                <a:ea typeface="IBM Plex Mono"/>
                <a:cs typeface="IBM Plex Mono"/>
                <a:sym typeface="IBM Plex Mono"/>
              </a:rPr>
              <a:t>selector</a:t>
            </a:r>
          </a:p>
        </p:txBody>
      </p:sp>
      <p:sp>
        <p:nvSpPr>
          <p:cNvPr name="AutoShape 9" id="9"/>
          <p:cNvSpPr/>
          <p:nvPr/>
        </p:nvSpPr>
        <p:spPr>
          <a:xfrm>
            <a:off x="5810250" y="3714750"/>
            <a:ext cx="857250" cy="0"/>
          </a:xfrm>
          <a:prstGeom prst="line">
            <a:avLst/>
          </a:prstGeom>
          <a:ln cap="rnd" w="57150">
            <a:solidFill>
              <a:srgbClr val="3772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7096125" y="3200400"/>
            <a:ext cx="4095750" cy="575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0"/>
              </a:lnSpc>
            </a:pPr>
            <a:r>
              <a:rPr lang="en-US" sz="42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ATUR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096125" y="3971925"/>
            <a:ext cx="4095750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7"/>
              </a:lnSpc>
            </a:pPr>
            <a:r>
              <a:rPr lang="en-US" sz="2250">
                <a:solidFill>
                  <a:srgbClr val="CBD3FF"/>
                </a:solidFill>
                <a:latin typeface="IBM Plex Mono"/>
                <a:ea typeface="IBM Plex Mono"/>
                <a:cs typeface="IBM Plex Mono"/>
                <a:sym typeface="IBM Plex Mono"/>
              </a:rPr>
              <a:t>color</a:t>
            </a:r>
          </a:p>
        </p:txBody>
      </p:sp>
      <p:sp>
        <p:nvSpPr>
          <p:cNvPr name="AutoShape 12" id="12"/>
          <p:cNvSpPr/>
          <p:nvPr/>
        </p:nvSpPr>
        <p:spPr>
          <a:xfrm>
            <a:off x="11382375" y="3714750"/>
            <a:ext cx="857250" cy="0"/>
          </a:xfrm>
          <a:prstGeom prst="line">
            <a:avLst/>
          </a:prstGeom>
          <a:ln cap="rnd" w="57150">
            <a:solidFill>
              <a:srgbClr val="3772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12668250" y="3200400"/>
            <a:ext cx="4095750" cy="575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0"/>
              </a:lnSpc>
            </a:pPr>
            <a:r>
              <a:rPr lang="en-US" sz="4200" b="true">
                <a:solidFill>
                  <a:srgbClr val="8B5CF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RAPIKAN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68250" y="3971925"/>
            <a:ext cx="4095750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7"/>
              </a:lnSpc>
            </a:pPr>
            <a:r>
              <a:rPr lang="en-US" sz="2250">
                <a:solidFill>
                  <a:srgbClr val="CBD3FF"/>
                </a:solidFill>
                <a:latin typeface="IBM Plex Mono"/>
                <a:ea typeface="IBM Plex Mono"/>
                <a:cs typeface="IBM Plex Mono"/>
                <a:sym typeface="IBM Plex Mono"/>
              </a:rPr>
              <a:t>typography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239000" y="5953125"/>
            <a:ext cx="3810000" cy="66675"/>
            <a:chOff x="0" y="0"/>
            <a:chExt cx="5080000" cy="889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080000" cy="88900"/>
            </a:xfrm>
            <a:custGeom>
              <a:avLst/>
              <a:gdLst/>
              <a:ahLst/>
              <a:cxnLst/>
              <a:rect r="r" b="b" t="t" l="l"/>
              <a:pathLst>
                <a:path h="889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42D7E8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080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476500" y="6724650"/>
            <a:ext cx="13335000" cy="104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5"/>
              </a:lnSpc>
            </a:pPr>
            <a:r>
              <a:rPr lang="en-US" sz="39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Eksperimen kecil hari ini bisa menjadi website keren besok.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DAHWN88Gs2Q</dc:identifier>
  <dcterms:modified xsi:type="dcterms:W3CDTF">2011-08-01T06:04:30Z</dcterms:modified>
  <cp:revision>1</cp:revision>
  <dc:title>Minggu 7 – CSS Dasar</dc:title>
</cp:coreProperties>
</file>